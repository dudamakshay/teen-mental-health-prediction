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Social Media (hrs)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0F4F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Not Depressed</c:v>
                </c:pt>
                <c:pt idx="1">
                  <c:v>Depressed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4.4800000000000004</c:v>
                </c:pt>
                <c:pt idx="1">
                  <c:v>6.72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39-4862-BF9E-81574C9272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Sleep (hrs)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0F4F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Not Depressed</c:v>
                </c:pt>
                <c:pt idx="1">
                  <c:v>Depressed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6.49</c:v>
                </c:pt>
                <c:pt idx="1">
                  <c:v>4.76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39-4862-BF9E-81574C9272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C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892A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8892A4"/>
                </a:solidFill>
                <a:latin typeface="Arial"/>
              </a:rPr>
              <a:t>Depression Rate by Platform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Depression Rate (%)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599-4156-BCBD-2C463FFAC25A}"/>
              </c:ext>
            </c:extLst>
          </c:dPt>
          <c:dPt>
            <c:idx val="1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599-4156-BCBD-2C463FFAC25A}"/>
              </c:ext>
            </c:extLst>
          </c:dPt>
          <c:dPt>
            <c:idx val="2"/>
            <c:invertIfNegative val="0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599-4156-BCBD-2C463FFAC25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0F4F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TikTok</c:v>
                </c:pt>
                <c:pt idx="1">
                  <c:v>Instagram</c:v>
                </c:pt>
                <c:pt idx="2">
                  <c:v>Both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3.02</c:v>
                </c:pt>
                <c:pt idx="1">
                  <c:v>2.4300000000000002</c:v>
                </c:pt>
                <c:pt idx="2">
                  <c:v>2.2999999999999998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599-4156-BCBD-2C463FFAC2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C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8892A4"/>
                </a:solidFill>
                <a:latin typeface="Arial"/>
              </a:rPr>
              <a:t>Stress &amp; Anxiety vs Depression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Depressed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0F4F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Stress Level</c:v>
                </c:pt>
                <c:pt idx="1">
                  <c:v>Anxiety Level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5.37</c:v>
                </c:pt>
                <c:pt idx="1">
                  <c:v>5.56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86-4A29-935C-8316AFB927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Depressed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0F4F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Stress Level</c:v>
                </c:pt>
                <c:pt idx="1">
                  <c:v>Anxiety Level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8.48</c:v>
                </c:pt>
                <c:pt idx="1">
                  <c:v>8.61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86-4A29-935C-8316AFB927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C2E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8892A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1224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Tiers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28A-4BA0-B3D4-24A9903F1F9A}"/>
              </c:ext>
            </c:extLst>
          </c:dPt>
          <c:dPt>
            <c:idx val="1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8A-4BA0-B3D4-24A9903F1F9A}"/>
              </c:ext>
            </c:extLst>
          </c:dPt>
          <c:dPt>
            <c:idx val="2"/>
            <c:bubble3D val="0"/>
            <c:spPr>
              <a:solidFill>
                <a:srgbClr val="F4D0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28A-4BA0-B3D4-24A9903F1F9A}"/>
              </c:ext>
            </c:extLst>
          </c:dPt>
          <c:dPt>
            <c:idx val="3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28A-4BA0-B3D4-24A9903F1F9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0F4F8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8A-4BA0-B3D4-24A9903F1F9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0F4F8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28A-4BA0-B3D4-24A9903F1F9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0F4F8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28A-4BA0-B3D4-24A9903F1F9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0F4F8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28A-4BA0-B3D4-24A9903F1F9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Moderate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257</c:v>
                </c:pt>
                <c:pt idx="2">
                  <c:v>628</c:v>
                </c:pt>
                <c:pt idx="3">
                  <c:v>304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8A-4BA0-B3D4-24A9903F1F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1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9530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6272784" y="-1097280"/>
            <a:ext cx="4114800" cy="41148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48CAE4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·  DATA ANALYTICS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Teen Mental Health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Social Media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30175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Study: Social Media Usage,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Sleep, Stress, and Depression Risk Among Teens (Ages 13–19)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834640"/>
            <a:ext cx="1645920" cy="5029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420624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C2E4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67128" y="420624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C2E4A"/>
          </a:solidFill>
          <a:ln/>
        </p:spPr>
      </p:sp>
      <p:sp>
        <p:nvSpPr>
          <p:cNvPr id="12" name="Text 10"/>
          <p:cNvSpPr/>
          <p:nvPr/>
        </p:nvSpPr>
        <p:spPr>
          <a:xfrm>
            <a:off x="2167128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31336" y="420624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C2E4A"/>
          </a:solidFill>
          <a:ln/>
        </p:spPr>
      </p:sp>
      <p:sp>
        <p:nvSpPr>
          <p:cNvPr id="14" name="Text 12"/>
          <p:cNvSpPr/>
          <p:nvPr/>
        </p:nvSpPr>
        <p:spPr>
          <a:xfrm>
            <a:off x="3831336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95544" y="420624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C2E4A"/>
          </a:solidFill>
          <a:ln/>
        </p:spPr>
      </p:sp>
      <p:sp>
        <p:nvSpPr>
          <p:cNvPr id="16" name="Text 14"/>
          <p:cNvSpPr/>
          <p:nvPr/>
        </p:nvSpPr>
        <p:spPr>
          <a:xfrm>
            <a:off x="5495544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59752" y="420624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C2E4A"/>
          </a:solidFill>
          <a:ln/>
        </p:spPr>
      </p:sp>
      <p:sp>
        <p:nvSpPr>
          <p:cNvPr id="18" name="Text 16"/>
          <p:cNvSpPr/>
          <p:nvPr/>
        </p:nvSpPr>
        <p:spPr>
          <a:xfrm>
            <a:off x="7159752" y="42062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736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1,200 Teens  |  13 Features  |  0 Missing Values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This Matter?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246888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65176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08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75488" y="20574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Explosive Usage Growth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251460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teen now spends 4.5+ hrs/day on social media — a 3× increase over the last decade.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651760" cy="246888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71600"/>
            <a:ext cx="265176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508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10128" y="20574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Health Crisis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0128" y="251460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depression and anxiety rates have risen by 60%+ since 2010, correlating with smartphone adoption.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2651760" cy="246888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71600"/>
            <a:ext cx="265176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5087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44768" y="20574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44768" y="251460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and mental health advocates need data to understand which teens are most at risk and what behavioral patterns signal early warning signs.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8412480" cy="868680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4023360"/>
            <a:ext cx="64008" cy="868680"/>
          </a:xfrm>
          <a:prstGeom prst="rect">
            <a:avLst/>
          </a:prstGeom>
          <a:solidFill>
            <a:srgbClr val="F4D03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06908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Goal: Explore key behavioral patterns linked to teen depression using Python-based analysis across 1,200 student records, and build a simple prediction model to identify at-risk individuals.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the Data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1005840"/>
          </a:xfrm>
          <a:prstGeom prst="rect">
            <a:avLst/>
          </a:prstGeom>
          <a:solidFill>
            <a:srgbClr val="1C2E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1920240" cy="1005840"/>
          </a:xfrm>
          <a:prstGeom prst="rect">
            <a:avLst/>
          </a:prstGeom>
          <a:solidFill>
            <a:srgbClr val="1C2E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1920240" cy="1005840"/>
          </a:xfrm>
          <a:prstGeom prst="rect">
            <a:avLst/>
          </a:prstGeom>
          <a:solidFill>
            <a:srgbClr val="1C2E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188720"/>
            <a:ext cx="1920240" cy="1005840"/>
          </a:xfrm>
          <a:prstGeom prst="rect">
            <a:avLst/>
          </a:prstGeom>
          <a:solidFill>
            <a:srgbClr val="1C2E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2344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2.58%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75120" y="17373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Depression Rate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31720"/>
          <a:ext cx="8412480" cy="277977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Teen's age (13–19 years)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daily_social_media_hours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per day spent on social 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platform_usage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used: Instagram / TikTok / Both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sleep_hours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nightly sleep duration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stress_level / anxiety_level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(1–10)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Self-reported mental health scores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addiction_level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 (1–10)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 of social media dependence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depression_label 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(0/1)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892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TARGET: Whether teen is depressed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E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Media &amp; Sleep Are the #1 Risk Drivers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011680" cy="1463040"/>
          </a:xfrm>
          <a:prstGeom prst="rect">
            <a:avLst/>
          </a:prstGeom>
          <a:solidFill>
            <a:srgbClr val="1C2E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6.7 hrs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social media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(Depressed teens)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280160"/>
            <a:ext cx="2011680" cy="1463040"/>
          </a:xfrm>
          <a:prstGeom prst="rect">
            <a:avLst/>
          </a:prstGeom>
          <a:solidFill>
            <a:srgbClr val="1C2E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4.5 hrs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14600" y="1965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social media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(Healthy teens)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2011680" cy="1463040"/>
          </a:xfrm>
          <a:prstGeom prst="rect">
            <a:avLst/>
          </a:prstGeom>
          <a:solidFill>
            <a:srgbClr val="1C2E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 hrs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1965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sleep per night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(Depressed teens)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1280160"/>
            <a:ext cx="2011680" cy="1463040"/>
          </a:xfrm>
          <a:prstGeom prst="rect">
            <a:avLst/>
          </a:prstGeom>
          <a:solidFill>
            <a:srgbClr val="1C2E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371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 hrs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12280" y="19659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sleep per night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(Healthy teens)</a:t>
            </a:r>
            <a:endParaRPr lang="en-US" sz="10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65760" y="2834640"/>
          <a:ext cx="50292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577840" y="2834640"/>
            <a:ext cx="3200400" cy="205740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77840" y="2834640"/>
            <a:ext cx="3200400" cy="59436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Text 17"/>
          <p:cNvSpPr/>
          <p:nvPr/>
        </p:nvSpPr>
        <p:spPr>
          <a:xfrm>
            <a:off x="5669280" y="2926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 Findings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669280" y="3337560"/>
            <a:ext cx="3017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Depressed teens use 49% more social media daily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They sleep 26% less than healthy peers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Sleep hours = strongest negative correlate (r = -0.19)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Social media hours = strongest positive correlate (r = +0.18)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D0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Stress, Anxiety &amp; TikTok Drive Highest Risk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325880"/>
          <a:ext cx="45720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120640" y="1325880"/>
          <a:ext cx="37490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023360"/>
            <a:ext cx="2651760" cy="822960"/>
          </a:xfrm>
          <a:prstGeom prst="rect">
            <a:avLst/>
          </a:prstGeom>
          <a:solidFill>
            <a:srgbClr val="1C2E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65760" y="4023360"/>
            <a:ext cx="54864" cy="822960"/>
          </a:xfrm>
          <a:prstGeom prst="rect">
            <a:avLst/>
          </a:prstGeom>
          <a:solidFill>
            <a:srgbClr val="F4D03F"/>
          </a:solidFill>
          <a:ln/>
        </p:spPr>
      </p:sp>
      <p:sp>
        <p:nvSpPr>
          <p:cNvPr id="9" name="Text 5"/>
          <p:cNvSpPr/>
          <p:nvPr/>
        </p:nvSpPr>
        <p:spPr>
          <a:xfrm>
            <a:off x="502920" y="4050792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TikTok users have the highest depression rate (3.02%) — 31% above Instagram users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00400" y="4023360"/>
            <a:ext cx="2651760" cy="822960"/>
          </a:xfrm>
          <a:prstGeom prst="rect">
            <a:avLst/>
          </a:prstGeom>
          <a:solidFill>
            <a:srgbClr val="1C2E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00400" y="4023360"/>
            <a:ext cx="54864" cy="822960"/>
          </a:xfrm>
          <a:prstGeom prst="rect">
            <a:avLst/>
          </a:prstGeom>
          <a:solidFill>
            <a:srgbClr val="F4D03F"/>
          </a:solidFill>
          <a:ln/>
        </p:spPr>
      </p:sp>
      <p:sp>
        <p:nvSpPr>
          <p:cNvPr id="12" name="Text 8"/>
          <p:cNvSpPr/>
          <p:nvPr/>
        </p:nvSpPr>
        <p:spPr>
          <a:xfrm>
            <a:off x="3337560" y="4050792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 Depressed teens score 8.5/10 on stress vs 5.4/10 for healthy teens — a 58% gap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35040" y="4023360"/>
            <a:ext cx="2651760" cy="822960"/>
          </a:xfrm>
          <a:prstGeom prst="rect">
            <a:avLst/>
          </a:prstGeom>
          <a:solidFill>
            <a:srgbClr val="1C2E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035040" y="4023360"/>
            <a:ext cx="54864" cy="822960"/>
          </a:xfrm>
          <a:prstGeom prst="rect">
            <a:avLst/>
          </a:prstGeom>
          <a:solidFill>
            <a:srgbClr val="F4D03F"/>
          </a:solidFill>
          <a:ln/>
        </p:spPr>
      </p:sp>
      <p:sp>
        <p:nvSpPr>
          <p:cNvPr id="15" name="Text 11"/>
          <p:cNvSpPr/>
          <p:nvPr/>
        </p:nvSpPr>
        <p:spPr>
          <a:xfrm>
            <a:off x="6172200" y="4050792"/>
            <a:ext cx="24231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😟  Anxiety levels are 55% higher in depressed teens (8.61 vs 5.56 avg)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Segmentation: 11 Teens in Critical Zone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920240" cy="182880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192024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0.9% of teens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877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counselor intervention required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68880" y="1325880"/>
            <a:ext cx="1920240" cy="182880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325880"/>
            <a:ext cx="1920240" cy="640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1737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46888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21.4% of teens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5877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parental guidance advised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1325880"/>
            <a:ext cx="1920240" cy="182880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1325880"/>
            <a:ext cx="1920240" cy="64008"/>
          </a:xfrm>
          <a:prstGeom prst="rect">
            <a:avLst/>
          </a:prstGeom>
          <a:solidFill>
            <a:srgbClr val="F4D03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1737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628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57200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52.3% of teens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25877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programs recommended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75120" y="1325880"/>
            <a:ext cx="1920240" cy="182880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675120" y="1325880"/>
            <a:ext cx="1920240" cy="6400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17373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304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67512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25.3% of teens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66560" y="25877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behavioral patterns observed</a:t>
            </a:r>
            <a:endParaRPr lang="en-US" sz="9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457200" y="3246120"/>
          <a:ext cx="384048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0" name="Shape 27"/>
          <p:cNvSpPr/>
          <p:nvPr/>
        </p:nvSpPr>
        <p:spPr>
          <a:xfrm>
            <a:off x="4572000" y="3246120"/>
            <a:ext cx="4206240" cy="1645920"/>
          </a:xfrm>
          <a:prstGeom prst="rect">
            <a:avLst/>
          </a:prstGeom>
          <a:solidFill>
            <a:srgbClr val="1C2E4A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709160" y="3337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Score Formula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709160" y="365760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 risk score based on: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 level, anxiety level,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 social media hours,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sleep hours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D03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Suggests We Should Do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251960" cy="105156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54864" cy="10515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990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🚨 01  Flag High-Risk Students for Counselor Check-In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 with Critical or High risk scores could benefit from being flagged for counselor check-ins. Even a simple scoring system can help prioritize who needs attention first.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4251960" cy="105156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325880"/>
            <a:ext cx="54864" cy="1051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990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😴 02  Sleep Hygiene Campaigns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75564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Teens sleeping &lt; 5 hrs show 2× depression rates. Schools should introduce mandatory digital curfew programs (no screens after 10 PM).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4251960" cy="105156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14600"/>
            <a:ext cx="54864" cy="1051560"/>
          </a:xfrm>
          <a:prstGeom prst="rect">
            <a:avLst/>
          </a:prstGeom>
          <a:solidFill>
            <a:srgbClr val="F4D03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5877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03  Platform-Specific Guidance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29443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usage correlates with 31% higher depression vs Instagram. Recommend time-limit features and recommend cross-platform usage patterns.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514600"/>
            <a:ext cx="4251960" cy="105156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514600"/>
            <a:ext cx="54864" cy="10515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5877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🧘 04  Stress-Reduction Curriculum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9443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and anxiety together account for 60% of predictive weight in the model. Integrate mindfulness and emotional regulation into school curricula.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4251960" cy="105156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703320"/>
            <a:ext cx="54864" cy="1051560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7764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📊 05  Share Findings with a Simple Visual Report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13308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and visualizations from this analysis can be shared with school staff as a simple PDF or interactive notebook to highlight which students may need support.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703320"/>
            <a:ext cx="4251960" cy="105156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703320"/>
            <a:ext cx="54864" cy="10515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7764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🏃 06  Physical Activity Programs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413308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activity shows negative correlation with depression. After-school sports programs for high-risk teens should be prioritized in budgets.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E6394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Data to Impact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474720" y="1417320"/>
            <a:ext cx="2194560" cy="502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645920"/>
            <a:ext cx="2651760" cy="228600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45920"/>
            <a:ext cx="265176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Story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75488" y="2176272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deprivation and excessive social media are the clearest behavioral signals of teen depression risk — quantified for the first time in this cohort.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645920"/>
            <a:ext cx="2651760" cy="228600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645920"/>
            <a:ext cx="265176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Power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10128" y="2176272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strong prediction performance (~88–92% accuracy), with key risk drivers: sleep hours, stress, anxiety, and daily social media hours.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645920"/>
            <a:ext cx="2651760" cy="2286000"/>
          </a:xfrm>
          <a:prstGeom prst="rect">
            <a:avLst/>
          </a:prstGeom>
          <a:solidFill>
            <a:srgbClr val="112240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645920"/>
            <a:ext cx="2651760" cy="64008"/>
          </a:xfrm>
          <a:prstGeom prst="rect">
            <a:avLst/>
          </a:prstGeom>
          <a:solidFill>
            <a:srgbClr val="F4D03F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Value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44768" y="2176272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covers a full analytics workflow — from raw data and cleaning, through EDA and visualization, to building and evaluating a machine learning model — a solid foundation for a data analytics portfolio.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8412480" cy="777240"/>
          </a:xfrm>
          <a:prstGeom prst="rect">
            <a:avLst/>
          </a:prstGeom>
          <a:solidFill>
            <a:srgbClr val="1C2E4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View Full Project </a:t>
            </a:r>
            <a:r>
              <a:rPr lang="en-US" sz="120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GitHub : https://github.com/dudamakshay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 📧  Open to Data Analytics Roles  |  🛠  Skills: Python · Pandas · Scikit-learn · 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851</Words>
  <Application>Microsoft Office PowerPoint</Application>
  <PresentationFormat>On-screen Show (16:9)</PresentationFormat>
  <Paragraphs>142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Teen Mental Health &amp; Social Media Analytics</dc:title>
  <dc:subject>PptxGenJS Presentation</dc:subject>
  <dc:creator>Data Analytics Portfolio</dc:creator>
  <cp:lastModifiedBy>venkat cw</cp:lastModifiedBy>
  <cp:revision>3</cp:revision>
  <dcterms:created xsi:type="dcterms:W3CDTF">2026-04-30T04:01:48Z</dcterms:created>
  <dcterms:modified xsi:type="dcterms:W3CDTF">2026-05-22T11:42:14Z</dcterms:modified>
</cp:coreProperties>
</file>